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64" r:id="rId3"/>
    <p:sldId id="265" r:id="rId4"/>
    <p:sldId id="266" r:id="rId5"/>
    <p:sldId id="267" r:id="rId6"/>
    <p:sldId id="268" r:id="rId7"/>
    <p:sldId id="269" r:id="rId8"/>
    <p:sldId id="259" r:id="rId9"/>
    <p:sldId id="260" r:id="rId10"/>
    <p:sldId id="261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smtClean="0"/>
              <a:t>Alcím mintájának szerkesztése</a:t>
            </a:r>
            <a:endParaRPr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685C-582D-4F2F-B373-2661342E6CD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55081-7168-4667-834E-B9BBFC4CE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178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685C-582D-4F2F-B373-2661342E6CD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55081-7168-4667-834E-B9BBFC4CE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562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685C-582D-4F2F-B373-2661342E6CD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55081-7168-4667-834E-B9BBFC4CE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297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685C-582D-4F2F-B373-2661342E6CD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55081-7168-4667-834E-B9BBFC4CE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994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685C-582D-4F2F-B373-2661342E6CD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55081-7168-4667-834E-B9BBFC4CE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8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685C-582D-4F2F-B373-2661342E6CD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55081-7168-4667-834E-B9BBFC4CE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28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685C-582D-4F2F-B373-2661342E6CD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55081-7168-4667-834E-B9BBFC4CE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256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685C-582D-4F2F-B373-2661342E6CD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55081-7168-4667-834E-B9BBFC4CE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138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685C-582D-4F2F-B373-2661342E6CD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55081-7168-4667-834E-B9BBFC4CE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923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685C-582D-4F2F-B373-2661342E6CD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55081-7168-4667-834E-B9BBFC4CE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736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685C-582D-4F2F-B373-2661342E6CD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55081-7168-4667-834E-B9BBFC4CE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540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7C685C-582D-4F2F-B373-2661342E6CD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855081-7168-4667-834E-B9BBFC4CE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139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divider and ILA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Documents configurable clock division, frequency calculations, measured signal behavior and on-chip Integrated Logic Analyzer (ILA) captures. This demonstrates debugging and verification skills beyond basic Verilog coding.</a:t>
            </a:r>
          </a:p>
        </p:txBody>
      </p:sp>
    </p:spTree>
    <p:extLst>
      <p:ext uri="{BB962C8B-B14F-4D97-AF65-F5344CB8AC3E}">
        <p14:creationId xmlns:p14="http://schemas.microsoft.com/office/powerpoint/2010/main" val="2510611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showing various division rates - 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348550" y="1482855"/>
            <a:ext cx="5005250" cy="4694108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LED frequency is generally 50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MHz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LED frequency based on DIV_RATE is 50 × 10⁶ / 10⁸ = 0.5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HzT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/ f = 1 / (0.5) = 2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ro-RO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ro-RO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1 / f = 1/(0,5) = 2s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duration of the video is approximately 5 seconds, during which there are 2 periods, with a duty cycle of 50% (Ton = 1 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Toff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s) =&gt; this confirms the calculations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WhatsApp Video 2025-11-11 at 18.57.45_c8f228f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" y="1482855"/>
            <a:ext cx="4978672" cy="4267433"/>
          </a:xfrm>
          <a:prstGeom prst="rect">
            <a:avLst/>
          </a:prstGeom>
        </p:spPr>
      </p:pic>
      <p:sp>
        <p:nvSpPr>
          <p:cNvPr id="5" name="Lekerekített téglalap 4"/>
          <p:cNvSpPr/>
          <p:nvPr/>
        </p:nvSpPr>
        <p:spPr>
          <a:xfrm>
            <a:off x="4676503" y="4929052"/>
            <a:ext cx="844732" cy="975360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zövegdoboz 5"/>
          <p:cNvSpPr txBox="1"/>
          <p:nvPr/>
        </p:nvSpPr>
        <p:spPr>
          <a:xfrm>
            <a:off x="4093030" y="5974080"/>
            <a:ext cx="2255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SW[1:0]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set to 2’b00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is selected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Lekerekített téglalap 6"/>
          <p:cNvSpPr/>
          <p:nvPr/>
        </p:nvSpPr>
        <p:spPr>
          <a:xfrm>
            <a:off x="1232263" y="4929052"/>
            <a:ext cx="844732" cy="975360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zövegdoboz 7"/>
          <p:cNvSpPr txBox="1"/>
          <p:nvPr/>
        </p:nvSpPr>
        <p:spPr>
          <a:xfrm>
            <a:off x="611780" y="5974080"/>
            <a:ext cx="2690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SW[1</a:t>
            </a:r>
            <a:r>
              <a:rPr lang="ro-RO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o-RO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set to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’b</a:t>
            </a:r>
            <a:r>
              <a:rPr lang="ro-RO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111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ro-RO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DIV_RATE = 10^ 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400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showing various division rates </a:t>
            </a:r>
            <a:r>
              <a:rPr lang="ro-RO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o-RO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dirty="0"/>
          </a:p>
        </p:txBody>
      </p:sp>
      <p:pic>
        <p:nvPicPr>
          <p:cNvPr id="6" name="WhatsApp Video 2025-11-11 at 18.57.47_918e1f1e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" y="1434282"/>
            <a:ext cx="5362303" cy="4232877"/>
          </a:xfrm>
        </p:spPr>
      </p:pic>
      <p:sp>
        <p:nvSpPr>
          <p:cNvPr id="8" name="Lekerekített téglalap 7"/>
          <p:cNvSpPr/>
          <p:nvPr/>
        </p:nvSpPr>
        <p:spPr>
          <a:xfrm>
            <a:off x="5016136" y="4770176"/>
            <a:ext cx="844732" cy="975360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zövegdoboz 9"/>
          <p:cNvSpPr txBox="1"/>
          <p:nvPr/>
        </p:nvSpPr>
        <p:spPr>
          <a:xfrm>
            <a:off x="4180114" y="5817326"/>
            <a:ext cx="27257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SW[1:0] is set to 2’b01 =&gt; B has been selected =&gt; the frequency of A / 2</a:t>
            </a:r>
            <a:endParaRPr lang="en-US" dirty="0"/>
          </a:p>
        </p:txBody>
      </p:sp>
      <p:sp>
        <p:nvSpPr>
          <p:cNvPr id="11" name="Szövegdoboz 10"/>
          <p:cNvSpPr txBox="1"/>
          <p:nvPr/>
        </p:nvSpPr>
        <p:spPr>
          <a:xfrm>
            <a:off x="6514011" y="1434282"/>
            <a:ext cx="437170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LED frequency based on </a:t>
            </a:r>
            <a:r>
              <a:rPr lang="ro-RO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DIV_RATE </a:t>
            </a: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50*10^6/10^8 = 0,5 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1 / f = 1/(0,5) = </a:t>
            </a:r>
            <a:r>
              <a:rPr lang="ro-RO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case of </a:t>
            </a:r>
            <a:r>
              <a:rPr lang="ro-RO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ro-RO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the frequency of </a:t>
            </a:r>
            <a:r>
              <a:rPr lang="ro-RO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ro-RO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A / 2 =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ro-RO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0,5Hz / 2 = 0,25Hz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duration of the period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ro-RO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= 1 / (1/4) = 4s</a:t>
            </a:r>
            <a:endParaRPr lang="ro-RO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duration of the video clip is 4 seconds. It starts at 3:38s and runs until 7:40, with a fill factor of 50%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(Ton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2s,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Toff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2s)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65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showing various division rates </a:t>
            </a:r>
            <a:r>
              <a:rPr lang="ro-RO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o-RO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052457" y="1498017"/>
            <a:ext cx="5582194" cy="4687654"/>
          </a:xfrm>
        </p:spPr>
        <p:txBody>
          <a:bodyPr>
            <a:normAutofit lnSpcReduction="10000"/>
          </a:bodyPr>
          <a:lstStyle/>
          <a:p>
            <a:r>
              <a:rPr lang="ro-RO" dirty="0" smtClean="0"/>
              <a:t>T </a:t>
            </a:r>
            <a:r>
              <a:rPr lang="ro-RO" dirty="0"/>
              <a:t>= 1 / f = 1/(</a:t>
            </a:r>
            <a:r>
              <a:rPr lang="ro-RO" dirty="0" smtClean="0"/>
              <a:t>0,25</a:t>
            </a:r>
            <a:r>
              <a:rPr lang="ro-RO" dirty="0"/>
              <a:t>) = </a:t>
            </a:r>
            <a:r>
              <a:rPr lang="ro-RO" dirty="0" smtClean="0"/>
              <a:t>4s</a:t>
            </a:r>
            <a:r>
              <a:rPr lang="en-US" dirty="0" smtClean="0"/>
              <a:t> </a:t>
            </a:r>
            <a:r>
              <a:rPr lang="en-US" dirty="0" smtClean="0"/>
              <a:t>in case of </a:t>
            </a:r>
            <a:r>
              <a:rPr lang="ro-RO" dirty="0" smtClean="0"/>
              <a:t>B</a:t>
            </a:r>
            <a:endParaRPr lang="ro-RO" dirty="0"/>
          </a:p>
          <a:p>
            <a:r>
              <a:rPr lang="en-US" dirty="0" smtClean="0"/>
              <a:t>Frequency of </a:t>
            </a:r>
            <a:r>
              <a:rPr lang="ro-RO" dirty="0" smtClean="0"/>
              <a:t>C </a:t>
            </a:r>
            <a:r>
              <a:rPr lang="ro-RO" dirty="0"/>
              <a:t>= B</a:t>
            </a:r>
            <a:r>
              <a:rPr lang="ro-RO" dirty="0" smtClean="0"/>
              <a:t> </a:t>
            </a:r>
            <a:r>
              <a:rPr lang="ro-RO" dirty="0"/>
              <a:t>/ 2 =</a:t>
            </a:r>
            <a:r>
              <a:rPr lang="en-US" dirty="0"/>
              <a:t>&gt; </a:t>
            </a:r>
            <a:r>
              <a:rPr lang="ro-RO" dirty="0" smtClean="0"/>
              <a:t>0,25Hz </a:t>
            </a:r>
            <a:r>
              <a:rPr lang="ro-RO" dirty="0"/>
              <a:t>/ 2 = </a:t>
            </a:r>
            <a:r>
              <a:rPr lang="ro-RO" dirty="0" smtClean="0"/>
              <a:t>0,125Hz </a:t>
            </a:r>
            <a:endParaRPr lang="ro-RO" dirty="0"/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duration of the period is</a:t>
            </a:r>
            <a:r>
              <a:rPr lang="ro-RO" dirty="0" smtClean="0"/>
              <a:t> </a:t>
            </a:r>
            <a:r>
              <a:rPr lang="ro-RO" dirty="0"/>
              <a:t>T = 1 / (</a:t>
            </a:r>
            <a:r>
              <a:rPr lang="ro-RO" dirty="0" smtClean="0"/>
              <a:t>1/8) </a:t>
            </a:r>
            <a:r>
              <a:rPr lang="ro-RO" dirty="0"/>
              <a:t>= </a:t>
            </a:r>
            <a:r>
              <a:rPr lang="ro-RO" dirty="0" smtClean="0"/>
              <a:t>8s</a:t>
            </a:r>
            <a:endParaRPr lang="ro-RO" dirty="0"/>
          </a:p>
          <a:p>
            <a:r>
              <a:rPr lang="en-US" dirty="0"/>
              <a:t>The duration of the section in the video is 8 seconds; it starts at 6:70s and lasts until 14:74s, which shows that the calculations are correct, with a duty cycle of 50 per cent (Ton = 4s, </a:t>
            </a:r>
            <a:r>
              <a:rPr lang="en-US" dirty="0" err="1"/>
              <a:t>Toff</a:t>
            </a:r>
            <a:r>
              <a:rPr lang="en-US" dirty="0"/>
              <a:t> = 4s)</a:t>
            </a:r>
            <a:endParaRPr lang="ro-RO" dirty="0"/>
          </a:p>
        </p:txBody>
      </p:sp>
      <p:pic>
        <p:nvPicPr>
          <p:cNvPr id="4" name="WhatsApp Video 2025-11-11 at 18.58.01_829547f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" y="1498017"/>
            <a:ext cx="4743994" cy="3953042"/>
          </a:xfrm>
          <a:prstGeom prst="rect">
            <a:avLst/>
          </a:prstGeom>
        </p:spPr>
      </p:pic>
      <p:sp>
        <p:nvSpPr>
          <p:cNvPr id="5" name="Lekerekített téglalap 4"/>
          <p:cNvSpPr/>
          <p:nvPr/>
        </p:nvSpPr>
        <p:spPr>
          <a:xfrm>
            <a:off x="4606833" y="4683091"/>
            <a:ext cx="844732" cy="975360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zövegdoboz 5"/>
          <p:cNvSpPr txBox="1"/>
          <p:nvPr/>
        </p:nvSpPr>
        <p:spPr>
          <a:xfrm>
            <a:off x="3666307" y="5658451"/>
            <a:ext cx="27257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SW[1:0] is set to 2’b10 =&gt; C has been selected =&gt; the frequency of B /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819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showing various division rates </a:t>
            </a:r>
            <a:r>
              <a:rPr lang="ro-RO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o-RO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008914" y="1651301"/>
            <a:ext cx="5344886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1 / f = 1/(0.125) = 8 s in the case 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frequency of D = C / 2 =&gt; 0.125 Hz / 2 = 0.0625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Hz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 is T = 1 / (1/16) = 16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 in the video is 16 seconds and runs from 11:94 to 28:09, so the calculations are correct with a duty cycle of 50 per cent (Ton = 8 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Toff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8 s)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WhatsApp Video 2025-11-11 at 18.58.01_c16b91d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" y="1690687"/>
            <a:ext cx="4491446" cy="4083777"/>
          </a:xfrm>
          <a:prstGeom prst="rect">
            <a:avLst/>
          </a:prstGeom>
        </p:spPr>
      </p:pic>
      <p:sp>
        <p:nvSpPr>
          <p:cNvPr id="5" name="Lekerekített téglalap 4"/>
          <p:cNvSpPr/>
          <p:nvPr/>
        </p:nvSpPr>
        <p:spPr>
          <a:xfrm>
            <a:off x="4258490" y="4987891"/>
            <a:ext cx="844732" cy="975360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zövegdoboz 5"/>
          <p:cNvSpPr txBox="1"/>
          <p:nvPr/>
        </p:nvSpPr>
        <p:spPr>
          <a:xfrm>
            <a:off x="3466010" y="5963251"/>
            <a:ext cx="27257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SW[1:0] is set to 2’b11 =&gt; D has been selected =&gt; the frequency of C /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54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-14198"/>
            <a:ext cx="10755086" cy="1325563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signals using ILA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59526" y="5420722"/>
            <a:ext cx="4134394" cy="1148126"/>
          </a:xfrm>
        </p:spPr>
        <p:txBody>
          <a:bodyPr>
            <a:normAutofit fontScale="92500" lnSpcReduction="20000"/>
          </a:bodyPr>
          <a:lstStyle/>
          <a:p>
            <a:r>
              <a:rPr lang="en-US" sz="1600" dirty="0"/>
              <a:t>DIV_RATE = 8 =&gt; SEL = 3 =&gt; SW[15:13] = </a:t>
            </a:r>
            <a:r>
              <a:rPr lang="en-US" sz="1600" dirty="0" smtClean="0"/>
              <a:t>b’011</a:t>
            </a:r>
          </a:p>
          <a:p>
            <a:r>
              <a:rPr lang="en-US" sz="1600" dirty="0" smtClean="0"/>
              <a:t>when </a:t>
            </a:r>
            <a:r>
              <a:rPr lang="en-US" sz="1600" dirty="0"/>
              <a:t>SW[1:0] = b’00, frequency = </a:t>
            </a:r>
            <a:r>
              <a:rPr lang="en-US" sz="1600" dirty="0" smtClean="0"/>
              <a:t>5*10^7/8</a:t>
            </a:r>
          </a:p>
          <a:p>
            <a:r>
              <a:rPr lang="en-US" sz="1600" dirty="0" smtClean="0"/>
              <a:t>when </a:t>
            </a:r>
            <a:r>
              <a:rPr lang="en-US" sz="1600" dirty="0"/>
              <a:t>SW[1:0] = b’01, frequency = 5*10^7/(8*2</a:t>
            </a:r>
            <a:r>
              <a:rPr lang="en-US" sz="1600" dirty="0" smtClean="0"/>
              <a:t>)</a:t>
            </a:r>
          </a:p>
          <a:p>
            <a:r>
              <a:rPr lang="en-US" sz="1600" dirty="0" smtClean="0"/>
              <a:t>Changing </a:t>
            </a:r>
            <a:r>
              <a:rPr lang="en-US" sz="1600" dirty="0"/>
              <a:t>SEL_MUX from 0 to 1</a:t>
            </a:r>
            <a:endParaRPr lang="en-US" sz="1600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1282"/>
            <a:ext cx="12192000" cy="4409440"/>
          </a:xfrm>
          <a:prstGeom prst="rect">
            <a:avLst/>
          </a:prstGeom>
        </p:spPr>
      </p:pic>
      <p:sp>
        <p:nvSpPr>
          <p:cNvPr id="5" name="Lekerekített téglalap 4"/>
          <p:cNvSpPr/>
          <p:nvPr/>
        </p:nvSpPr>
        <p:spPr>
          <a:xfrm>
            <a:off x="6017623" y="3216002"/>
            <a:ext cx="1628503" cy="975360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Egyenes összekötő nyíllal 6"/>
          <p:cNvCxnSpPr/>
          <p:nvPr/>
        </p:nvCxnSpPr>
        <p:spPr>
          <a:xfrm>
            <a:off x="6827521" y="4191362"/>
            <a:ext cx="4353" cy="1465218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zövegdoboz 7"/>
          <p:cNvSpPr txBox="1"/>
          <p:nvPr/>
        </p:nvSpPr>
        <p:spPr>
          <a:xfrm>
            <a:off x="4980212" y="5626463"/>
            <a:ext cx="66533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can be seen that, after the orange line at T = 512, the duration doubles =&gt; the frequency </a:t>
            </a:r>
            <a:r>
              <a:rPr lang="en-US" dirty="0" smtClean="0"/>
              <a:t>halves </a:t>
            </a:r>
          </a:p>
          <a:p>
            <a:r>
              <a:rPr lang="en-US" dirty="0" smtClean="0"/>
              <a:t>It </a:t>
            </a:r>
            <a:r>
              <a:rPr lang="en-US" dirty="0"/>
              <a:t>can be seen that, in the ‘Change on upper input 0 → 1’ column, the condition is satisfied =&gt; SEL_SZS_0_1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571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-1" y="0"/>
            <a:ext cx="10964091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Monitoring signals using ILA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0" y="5242560"/>
            <a:ext cx="5547360" cy="1282746"/>
          </a:xfrm>
        </p:spPr>
        <p:txBody>
          <a:bodyPr>
            <a:normAutofit fontScale="5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DIV_RATE = 8 =&gt; SEL = 3 =&gt; SW[15:13] =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b’011</a:t>
            </a:r>
            <a:r>
              <a:rPr lang="ro-RO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 SEL_0_1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SW[1:0] = b’11,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5*10^7/(8*8)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SW[1:0] = b’10,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5*10^7/(8*4)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Changing SEL_MUX from 0 to 1</a:t>
            </a:r>
          </a:p>
          <a:p>
            <a:endParaRPr lang="en-US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7924"/>
            <a:ext cx="12192000" cy="3786293"/>
          </a:xfrm>
          <a:prstGeom prst="rect">
            <a:avLst/>
          </a:prstGeom>
        </p:spPr>
      </p:pic>
      <p:sp>
        <p:nvSpPr>
          <p:cNvPr id="5" name="Lekerekített téglalap 4"/>
          <p:cNvSpPr/>
          <p:nvPr/>
        </p:nvSpPr>
        <p:spPr>
          <a:xfrm>
            <a:off x="3744687" y="2622210"/>
            <a:ext cx="4397828" cy="975360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Egyenes összekötő nyíllal 5"/>
          <p:cNvCxnSpPr/>
          <p:nvPr/>
        </p:nvCxnSpPr>
        <p:spPr>
          <a:xfrm flipH="1">
            <a:off x="6827520" y="3597570"/>
            <a:ext cx="8710" cy="152307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zövegdoboz 7"/>
          <p:cNvSpPr txBox="1"/>
          <p:nvPr/>
        </p:nvSpPr>
        <p:spPr>
          <a:xfrm>
            <a:off x="6244046" y="5120640"/>
            <a:ext cx="54428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can be seen that, after the orange line at T = 512, the duration is halved =&gt; the frequency </a:t>
            </a:r>
            <a:r>
              <a:rPr lang="en-US" dirty="0" err="1"/>
              <a:t>doublesIt</a:t>
            </a:r>
            <a:r>
              <a:rPr lang="en-US" dirty="0"/>
              <a:t> can be seen that, for the ‘Change on upper input 3 → 2’ section, the condition is satisfied =&gt; SEL_SZS_0_1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381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1019832"/>
            <a:ext cx="12192000" cy="4430371"/>
          </a:xfrm>
          <a:prstGeom prst="rect">
            <a:avLst/>
          </a:prstGeom>
        </p:spPr>
      </p:pic>
      <p:sp>
        <p:nvSpPr>
          <p:cNvPr id="4" name="Cím 1"/>
          <p:cNvSpPr txBox="1">
            <a:spLocks/>
          </p:cNvSpPr>
          <p:nvPr/>
        </p:nvSpPr>
        <p:spPr>
          <a:xfrm>
            <a:off x="139336" y="284159"/>
            <a:ext cx="12192001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shift from low DIV_RATE to high DIV_RATE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Lekerekített téglalap 4"/>
          <p:cNvSpPr/>
          <p:nvPr/>
        </p:nvSpPr>
        <p:spPr>
          <a:xfrm>
            <a:off x="1584962" y="1915885"/>
            <a:ext cx="679266" cy="342424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Egyenes összekötő nyíllal 5"/>
          <p:cNvCxnSpPr/>
          <p:nvPr/>
        </p:nvCxnSpPr>
        <p:spPr>
          <a:xfrm flipH="1">
            <a:off x="1924595" y="2258309"/>
            <a:ext cx="8710" cy="3654811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zövegdoboz 7"/>
          <p:cNvSpPr txBox="1"/>
          <p:nvPr/>
        </p:nvSpPr>
        <p:spPr>
          <a:xfrm>
            <a:off x="330927" y="5756366"/>
            <a:ext cx="5904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If </a:t>
            </a:r>
            <a:r>
              <a:rPr lang="ro-RO" dirty="0" smtClean="0"/>
              <a:t>SEL_0_1 </a:t>
            </a:r>
            <a:r>
              <a:rPr lang="ro-RO" dirty="0" smtClean="0"/>
              <a:t>= 5 </a:t>
            </a:r>
            <a:r>
              <a:rPr lang="en-US" dirty="0" smtClean="0"/>
              <a:t>then</a:t>
            </a:r>
            <a:r>
              <a:rPr lang="ro-RO" dirty="0" smtClean="0"/>
              <a:t> </a:t>
            </a:r>
            <a:r>
              <a:rPr lang="ro-RO" dirty="0" smtClean="0"/>
              <a:t>SW</a:t>
            </a:r>
            <a:r>
              <a:rPr lang="en-US" dirty="0" smtClean="0"/>
              <a:t>[15:13] = 3’b101</a:t>
            </a:r>
          </a:p>
          <a:p>
            <a:r>
              <a:rPr lang="en-US" dirty="0" smtClean="0"/>
              <a:t>Before that, </a:t>
            </a:r>
            <a:r>
              <a:rPr lang="ro-RO" dirty="0" smtClean="0"/>
              <a:t> </a:t>
            </a:r>
            <a:r>
              <a:rPr lang="ro-RO" dirty="0" smtClean="0"/>
              <a:t>SEL_0_1 = 1 </a:t>
            </a:r>
            <a:r>
              <a:rPr lang="en-US" dirty="0" smtClean="0"/>
              <a:t>then</a:t>
            </a:r>
            <a:r>
              <a:rPr lang="ro-RO" dirty="0" smtClean="0"/>
              <a:t> </a:t>
            </a:r>
            <a:r>
              <a:rPr lang="ro-RO" dirty="0" smtClean="0"/>
              <a:t>SW</a:t>
            </a:r>
            <a:r>
              <a:rPr lang="en-US" dirty="0"/>
              <a:t> [15:13] = </a:t>
            </a:r>
            <a:r>
              <a:rPr lang="en-US" dirty="0" smtClean="0"/>
              <a:t>3’b</a:t>
            </a:r>
            <a:r>
              <a:rPr lang="ro-RO" dirty="0" smtClean="0"/>
              <a:t>0</a:t>
            </a:r>
            <a:r>
              <a:rPr lang="en-US" dirty="0" smtClean="0"/>
              <a:t>01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133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20409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Bug – LED freezes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13211" y="5410209"/>
            <a:ext cx="11985581" cy="1312808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There was an issue, when </a:t>
            </a:r>
            <a:r>
              <a:rPr lang="en-US" dirty="0"/>
              <a:t>SW[15] going from 1 to 0 causes the LED to freeze. I have fixed the bug so that it now works correctly. As you can see in the image, when I change SW[15] from 0 to 1, it changes SEL, triggers </a:t>
            </a:r>
            <a:r>
              <a:rPr lang="en-US" dirty="0" err="1"/>
              <a:t>SEL_Changed</a:t>
            </a:r>
            <a:r>
              <a:rPr lang="en-US" dirty="0"/>
              <a:t> and resets the counter.</a:t>
            </a:r>
            <a:endParaRPr lang="en-US" dirty="0"/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28" y="975077"/>
            <a:ext cx="9367836" cy="429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539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Without bug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9354476" y="1115922"/>
            <a:ext cx="2392680" cy="587279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we can see that SW[15] → changes from 1 to 0; there is no bug,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running correctly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5922"/>
            <a:ext cx="9354476" cy="484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130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39633" y="87086"/>
            <a:ext cx="11991703" cy="1325563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video on all four SEL values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WhatsApp Video 2025-11-11 at 20.52.58_6f5fca95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16714" y="1325563"/>
            <a:ext cx="7946669" cy="4430802"/>
          </a:xfrm>
        </p:spPr>
      </p:pic>
      <p:sp>
        <p:nvSpPr>
          <p:cNvPr id="3" name="Lekerekített téglalap 2"/>
          <p:cNvSpPr/>
          <p:nvPr/>
        </p:nvSpPr>
        <p:spPr>
          <a:xfrm>
            <a:off x="3274423" y="5155475"/>
            <a:ext cx="879566" cy="809896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34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832</Words>
  <Application>Microsoft Office PowerPoint</Application>
  <PresentationFormat>Szélesvásznú</PresentationFormat>
  <Paragraphs>48</Paragraphs>
  <Slides>11</Slides>
  <Notes>0</Notes>
  <HiddenSlides>0</HiddenSlides>
  <MMClips>5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Office-téma</vt:lpstr>
      <vt:lpstr>Clock divider and ILA</vt:lpstr>
      <vt:lpstr>1. Video showing various division rates - A</vt:lpstr>
      <vt:lpstr>1. Video showing various division rates - B</vt:lpstr>
      <vt:lpstr>1. Video showing various division rates - C</vt:lpstr>
      <vt:lpstr>1. Video showing various division rates - D</vt:lpstr>
      <vt:lpstr> Monitoring signals using ILA</vt:lpstr>
      <vt:lpstr> Monitoring signals using ILA</vt:lpstr>
      <vt:lpstr>PowerPoint bemutató</vt:lpstr>
      <vt:lpstr>Bug – LED freezes</vt:lpstr>
      <vt:lpstr>Without bug</vt:lpstr>
      <vt:lpstr>Short video on all four SEL values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bemutató</dc:title>
  <dc:creator>Zsolt</dc:creator>
  <cp:lastModifiedBy>Zsolt</cp:lastModifiedBy>
  <cp:revision>25</cp:revision>
  <dcterms:created xsi:type="dcterms:W3CDTF">2025-11-04T13:36:08Z</dcterms:created>
  <dcterms:modified xsi:type="dcterms:W3CDTF">2026-10-12T10:09:40Z</dcterms:modified>
</cp:coreProperties>
</file>