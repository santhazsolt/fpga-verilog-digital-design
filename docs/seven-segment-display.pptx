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3" r:id="rId6"/>
    <p:sldId id="264" r:id="rId7"/>
    <p:sldId id="265" r:id="rId8"/>
    <p:sldId id="266" r:id="rId9"/>
    <p:sldId id="267" r:id="rId10"/>
    <p:sldId id="268" r:id="rId11"/>
    <p:sldId id="262" r:id="rId12"/>
    <p:sldId id="2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8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1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96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0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5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3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0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1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8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2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36471-9817-44C9-8933-ED64215A121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AF47D-8FBB-40AC-8A3F-DD94DFA8C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Seven-segment display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anode testing, blanking behavior, seven-segment decoder waveforms, and photographs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A7 displaying digits at different refresh rates. This is useful evidence of both simulation and hardware testing.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08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Anodes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171" y="1690688"/>
            <a:ext cx="73220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9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 (16.09.2003)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386" y="1825625"/>
            <a:ext cx="10503228" cy="4351338"/>
          </a:xfrm>
          <a:prstGeom prst="rect">
            <a:avLst/>
          </a:prstGeom>
        </p:spPr>
      </p:pic>
      <p:sp>
        <p:nvSpPr>
          <p:cNvPr id="3" name="Lekerekített téglalap 2"/>
          <p:cNvSpPr/>
          <p:nvPr/>
        </p:nvSpPr>
        <p:spPr>
          <a:xfrm>
            <a:off x="679269" y="2673531"/>
            <a:ext cx="10868297" cy="26125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05690" y="836023"/>
            <a:ext cx="10624459" cy="1290093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Blank check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the blanking functionality of the seven-segment display decoder using a Verilog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testbench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3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7027"/>
            <a:ext cx="10515600" cy="419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81699" y="214075"/>
            <a:ext cx="10515600" cy="1325563"/>
          </a:xfrm>
        </p:spPr>
        <p:txBody>
          <a:bodyPr>
            <a:normAutofit/>
          </a:bodyPr>
          <a:lstStyle/>
          <a:p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showing the value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81699" y="1189898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digits light up one by one: Frequency below 25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refresh rate is below 25/8 = 3.1 Hz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99" y="2286443"/>
            <a:ext cx="5070205" cy="3325936"/>
          </a:xfrm>
          <a:prstGeom prst="rect">
            <a:avLst/>
          </a:prstGeom>
        </p:spPr>
      </p:pic>
      <p:pic>
        <p:nvPicPr>
          <p:cNvPr id="5" name="25Hz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49176" y="2286443"/>
            <a:ext cx="6461125" cy="3657600"/>
          </a:xfrm>
          <a:prstGeom prst="rect">
            <a:avLst/>
          </a:prstGeom>
        </p:spPr>
      </p:pic>
      <p:sp>
        <p:nvSpPr>
          <p:cNvPr id="6" name="Lekerekített téglalap 5"/>
          <p:cNvSpPr/>
          <p:nvPr/>
        </p:nvSpPr>
        <p:spPr>
          <a:xfrm>
            <a:off x="1140822" y="3365567"/>
            <a:ext cx="3405051" cy="31350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zövegdoboz 6"/>
          <p:cNvSpPr txBox="1"/>
          <p:nvPr/>
        </p:nvSpPr>
        <p:spPr>
          <a:xfrm>
            <a:off x="513806" y="5780427"/>
            <a:ext cx="410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/>
              <a:t>SW</a:t>
            </a:r>
            <a:r>
              <a:rPr lang="en-US" dirty="0" smtClean="0"/>
              <a:t>[15:12] = 1’b 1001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14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3765" y="353877"/>
            <a:ext cx="113799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figures are visible, but with a ‘flickering’ effect: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50 Hz and 200 Hz  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a refresh rate between 6.25 Hz and 25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chose 100 Hz – that is, a refresh rate between 12.5 Hz</a:t>
            </a:r>
            <a:endParaRPr lang="en-US" sz="24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47403"/>
            <a:ext cx="5070205" cy="3325936"/>
          </a:xfrm>
          <a:prstGeom prst="rect">
            <a:avLst/>
          </a:prstGeom>
        </p:spPr>
      </p:pic>
      <p:sp>
        <p:nvSpPr>
          <p:cNvPr id="6" name="Lekerekített téglalap 5"/>
          <p:cNvSpPr/>
          <p:nvPr/>
        </p:nvSpPr>
        <p:spPr>
          <a:xfrm>
            <a:off x="984067" y="3735977"/>
            <a:ext cx="3492138" cy="20029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zövegdoboz 6"/>
          <p:cNvSpPr txBox="1"/>
          <p:nvPr/>
        </p:nvSpPr>
        <p:spPr>
          <a:xfrm>
            <a:off x="513806" y="5780427"/>
            <a:ext cx="410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/>
              <a:t>SW</a:t>
            </a:r>
            <a:r>
              <a:rPr lang="en-US" dirty="0" smtClean="0"/>
              <a:t>[15:12] = 1’b </a:t>
            </a:r>
            <a:r>
              <a:rPr lang="ro-RO" dirty="0" smtClean="0"/>
              <a:t>0011</a:t>
            </a:r>
            <a:endParaRPr lang="en-US" dirty="0"/>
          </a:p>
        </p:txBody>
      </p:sp>
      <p:pic>
        <p:nvPicPr>
          <p:cNvPr id="8" name="100Hz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48965" y="2347403"/>
            <a:ext cx="6461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2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6468" y="240664"/>
            <a:ext cx="10515600" cy="1945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figures are visible; the display is static: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400 Hz and 100 kHz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a refresh rate between 50 Hz and 12.5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kHz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selected: 10 kHz — that is, the refresh rate is 1.25 kHz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69026"/>
            <a:ext cx="5070205" cy="3325936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394063" y="5823970"/>
            <a:ext cx="410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/>
              <a:t>SW</a:t>
            </a:r>
            <a:r>
              <a:rPr lang="en-US" dirty="0" smtClean="0"/>
              <a:t>[15:12] = 1’b </a:t>
            </a:r>
            <a:r>
              <a:rPr lang="ro-RO" dirty="0" smtClean="0"/>
              <a:t>1011</a:t>
            </a:r>
            <a:endParaRPr lang="en-US" dirty="0"/>
          </a:p>
        </p:txBody>
      </p:sp>
      <p:sp>
        <p:nvSpPr>
          <p:cNvPr id="6" name="Lekerekített téglalap 5"/>
          <p:cNvSpPr/>
          <p:nvPr/>
        </p:nvSpPr>
        <p:spPr>
          <a:xfrm>
            <a:off x="914397" y="4319450"/>
            <a:ext cx="3788231" cy="182881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10KHz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64268" y="2269026"/>
            <a:ext cx="6461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7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76646" y="278674"/>
            <a:ext cx="10515600" cy="5671866"/>
          </a:xfrm>
        </p:spPr>
        <p:txBody>
          <a:bodyPr/>
          <a:lstStyle/>
          <a:p>
            <a:pPr marL="0" indent="0">
              <a:buNone/>
            </a:pP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4-5.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figures overlap: a frequency of 1 MHz, i.e. a refresh rate of 125 kHz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67" y="1451639"/>
            <a:ext cx="5070205" cy="3325936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1094282" y="3814353"/>
            <a:ext cx="3840483" cy="17417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/>
          <p:cNvSpPr txBox="1"/>
          <p:nvPr/>
        </p:nvSpPr>
        <p:spPr>
          <a:xfrm>
            <a:off x="590001" y="5179391"/>
            <a:ext cx="410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[15:12] = 1’b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1MHz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83560" y="1451639"/>
            <a:ext cx="6461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1589" y="304799"/>
            <a:ext cx="10866120" cy="5576072"/>
          </a:xfrm>
        </p:spPr>
        <p:txBody>
          <a:bodyPr/>
          <a:lstStyle/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4-5.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figures overlap: a frequency of 10 MHz, i.e. a refresh rate of 1.25 MHz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89" y="1512119"/>
            <a:ext cx="5070205" cy="3325936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1071151" y="4032067"/>
            <a:ext cx="4075615" cy="182882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/>
          <p:cNvSpPr txBox="1"/>
          <p:nvPr/>
        </p:nvSpPr>
        <p:spPr>
          <a:xfrm>
            <a:off x="553902" y="5284068"/>
            <a:ext cx="410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[15:12] = 1’b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10MHz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49936" y="1512119"/>
            <a:ext cx="6461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6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your ILA triggers to the following values: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SSG_SZS value is 8’hC0 and a Fall event occurs on the anode corresponding to the second digit from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an entire WALK0 period, together with the corresponding SSG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 must contain the trigger position (the moment of triggering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)!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conditions must be visible on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capture!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documentation, indicate for each SSG code: the corresponding digit and the decimal point value (on/reached)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76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4557" y="365125"/>
            <a:ext cx="9179694" cy="4351338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6463"/>
            <a:ext cx="12192000" cy="213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39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6.a.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Autoblank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code sequence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573" y="2515186"/>
            <a:ext cx="826885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4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6.b.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demonstrating the logic behind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Autoblank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Tartalom helye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2972"/>
            <a:ext cx="10007676" cy="4583991"/>
          </a:xfrm>
          <a:prstGeom prst="rect">
            <a:avLst/>
          </a:prstGeom>
        </p:spPr>
      </p:pic>
      <p:sp>
        <p:nvSpPr>
          <p:cNvPr id="8" name="Lekerekített téglalap 7"/>
          <p:cNvSpPr/>
          <p:nvPr/>
        </p:nvSpPr>
        <p:spPr>
          <a:xfrm>
            <a:off x="2821577" y="1942012"/>
            <a:ext cx="827314" cy="448627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kerekített téglalap 8"/>
          <p:cNvSpPr/>
          <p:nvPr/>
        </p:nvSpPr>
        <p:spPr>
          <a:xfrm>
            <a:off x="3648891" y="1942010"/>
            <a:ext cx="783772" cy="44862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kerekített téglalap 11"/>
          <p:cNvSpPr/>
          <p:nvPr/>
        </p:nvSpPr>
        <p:spPr>
          <a:xfrm>
            <a:off x="4432663" y="1942010"/>
            <a:ext cx="783772" cy="44862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kerekített téglalap 12"/>
          <p:cNvSpPr/>
          <p:nvPr/>
        </p:nvSpPr>
        <p:spPr>
          <a:xfrm>
            <a:off x="5216435" y="1942010"/>
            <a:ext cx="783772" cy="44862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kerekített téglalap 18"/>
          <p:cNvSpPr/>
          <p:nvPr/>
        </p:nvSpPr>
        <p:spPr>
          <a:xfrm>
            <a:off x="6008917" y="1942010"/>
            <a:ext cx="783772" cy="4486276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kerekített téglalap 19"/>
          <p:cNvSpPr/>
          <p:nvPr/>
        </p:nvSpPr>
        <p:spPr>
          <a:xfrm>
            <a:off x="6810109" y="1986910"/>
            <a:ext cx="783772" cy="44413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kerekített téglalap 20"/>
          <p:cNvSpPr/>
          <p:nvPr/>
        </p:nvSpPr>
        <p:spPr>
          <a:xfrm>
            <a:off x="7602591" y="1986910"/>
            <a:ext cx="783772" cy="44862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kerekített téglalap 23"/>
          <p:cNvSpPr/>
          <p:nvPr/>
        </p:nvSpPr>
        <p:spPr>
          <a:xfrm>
            <a:off x="8386362" y="1986910"/>
            <a:ext cx="2368737" cy="44862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1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357</Words>
  <Application>Microsoft Office PowerPoint</Application>
  <PresentationFormat>Szélesvásznú</PresentationFormat>
  <Paragraphs>30</Paragraphs>
  <Slides>13</Slides>
  <Notes>0</Notes>
  <HiddenSlides>0</HiddenSlides>
  <MMClips>5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Office-téma</vt:lpstr>
      <vt:lpstr>Seven-segment display</vt:lpstr>
      <vt:lpstr>Testing Anodes</vt:lpstr>
      <vt:lpstr>Date of birth (16.09.2003)</vt:lpstr>
      <vt:lpstr>Blank check simulation tests the blanking functionality of the seven-segment display decoder using a Verilog testbench in Vivado</vt:lpstr>
      <vt:lpstr>Video showing the value</vt:lpstr>
      <vt:lpstr>PowerPoint bemutató</vt:lpstr>
      <vt:lpstr>PowerPoint bemutató</vt:lpstr>
      <vt:lpstr>PowerPoint bemutató</vt:lpstr>
      <vt:lpstr>PowerPoint bemutató</vt:lpstr>
      <vt:lpstr>4. b) Set your ILA triggers to the following values:</vt:lpstr>
      <vt:lpstr>4. b)</vt:lpstr>
      <vt:lpstr>6.a. The Autoblank logic code sequence</vt:lpstr>
      <vt:lpstr>6.b. Simulation results demonstrating the logic behind Autoblank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II</dc:title>
  <dc:creator>Zsolt</dc:creator>
  <cp:lastModifiedBy>Zsolt</cp:lastModifiedBy>
  <cp:revision>20</cp:revision>
  <dcterms:created xsi:type="dcterms:W3CDTF">2025-11-13T16:35:48Z</dcterms:created>
  <dcterms:modified xsi:type="dcterms:W3CDTF">2026-10-12T08:43:56Z</dcterms:modified>
</cp:coreProperties>
</file>